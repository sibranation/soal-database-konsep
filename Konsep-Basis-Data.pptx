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48b0cf6f-4edd-5d4b-85cd-29a50b3b10a5}">
          <p14:sldIdLst>
            <p14:sldId id="256"/>
            <p14:sldId id="257"/>
          </p14:sldIdLst>
        </p14:section>
        <p14:section name="Model Data" id="{eb0241bd-cd8b-c58a-3c3f-fcbff06e8232}">
          <p14:sldIdLst>
            <p14:sldId id="258"/>
            <p14:sldId id="259"/>
            <p14:sldId id="260"/>
          </p14:sldIdLst>
        </p14:section>
        <p14:section name="Jenis Model Data" id="{3fdf02bf-958c-1d64-4bf9-8ddd7a451537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SQL" id="{8c64a824-1bc4-cfed-2494-093f9b97b1b6}">
          <p14:sldIdLst>
            <p14:sldId id="267"/>
            <p14:sldId id="268"/>
            <p14:sldId id="269"/>
          </p14:sldIdLst>
        </p14:section>
        <p14:section name="Penutup" id="{629e73fa-d553-814b-ded1-9d070e8960b7}">
          <p14:sldIdLst>
            <p14:sldId id="270"/>
          </p14:sldIdLst>
        </p14:section>
        <p14:section name="Quiz" id="{cb35b31c-4863-5853-15dd-c542de4c1d93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±2 menit. Perkenalan singkat. Bilang di akhir sesi ada kuis 15 soal, jadi perhatiin baik-baik 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±2 menit. Kasih gambaran alur 1 jam: materi dulu, rangkuman, lalu kuis 10 menit.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±5 menit. Analogi: model data itu kayak denah rumah sebelum dibangun. Tekankan definisi dan 3 tujuan (Soal 1 &amp;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±5 menit. Dari abstrak ke teknis. Pancing: "Kalau udah ngomongin index dan tipe data di MySQL, itu level apa?" (Soal 3, 4,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±3 menit. 4 fungsi. Ingetin bahwa model data bukan soal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±5 menit. Tunjuk diagram: Drive C: itu akar. Tanya: "Di sini siapa yang gak punya induk?" (Soal 6 &amp;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±6 menit. Model paling populer. Tunjuk tabel: baris = tupel, kolom = atribut (Soal 8 &amp;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±5 menit. NIM di tabel KRS nunjuk ke NIM di tabel Mahasiswa. Itu yang bikin tabel bisa berelasi (Soal 10 &amp;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±3 menit. Cukup sebut 5 keunggulan, gak usah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±6 menit. Hubungin ke OOP yang mungkin udah mereka kenal. Contoh kunci: Novel mewarisi Buku = pewarisan (Soal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±3 menit. Cukup bandingin cepat.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±5 menit. SQL = bahasa buat ngatur, ngubah, dan ngambil data di database relasional. Fokus: CREATE/ALTER/DROP itu DDL (Soal 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±5 menit. Bedain ALTER (ubah struktur tabel) vs UPDATE (ubah isi data). GRANT kasih akses, REVOKE cabut akses (Soal 14 &amp; 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±3 menit. Motivasi: SQL dipakai di dunia kerja.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±5 menit. Review cepat sebelum kuis. Tiap poin ini nyambung langsung ke soal kuis.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menit. Bagikan link, minta isi nama dan NIM, lalu klik Mulai. Hasil bisa dipantau di /hasil.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760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760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914400"/>
            <a:ext cx="3840480" cy="384048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2834640"/>
            <a:ext cx="2377440" cy="2377440"/>
          </a:xfrm>
          <a:prstGeom prst="ellipse">
            <a:avLst/>
          </a:prstGeom>
          <a:solidFill>
            <a:schemeClr val="accent6">
              <a:alpha val="45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MINGGU KE-3 · PROYEK BERBASIS INDUSTRI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4173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Konsep Basis Data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7432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Model data, jenis-jenisnya, dan SQL. Explained simply.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AGENDA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Hari ini kita bahas apa?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804672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32588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417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Model Data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Apa itu, tujuannya, dan 3 level abstraksi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132588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15 min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167128"/>
            <a:ext cx="804672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167128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645920" y="22585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Jenis Model Data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Hierarkis, Relasional, dan Berorientasi Objek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21671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20 min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008376"/>
            <a:ext cx="804672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3008376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309981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SQL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Bahasa buat "ngobrol" sama database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223760" y="3008376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13 min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3849624"/>
            <a:ext cx="804672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84962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04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94106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Rangkuman + Quiz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15 soal pilihan ganda, 10 menit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223760" y="384962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15 min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MODEL DATA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Apa itu Model Data?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840480" cy="3108960"/>
          </a:xfrm>
          <a:prstGeom prst="roundRect">
            <a:avLst>
              <a:gd name="adj" fmla="val 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IN SHORT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965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Model data itu blueprint buat data kamu.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08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Kerangka kerja abstrak yang ngatur gimana data disusun, saling terhubung, dan disimpan di database.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Tujuannya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1874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548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18562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Konsisten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Format dan definisi data seragam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754880" y="2743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548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27249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Integritas terjaga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Data lebih akurat, minim error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754880" y="3611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5488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359359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Gampang dipahami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Data kompleks jadi jelas buat semua orang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MODEL DATA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 level model data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438705" cy="2743200"/>
          </a:xfrm>
          <a:prstGeom prst="roundRect">
            <a:avLst>
              <a:gd name="adj" fmla="val 44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459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Konseptual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BIG PICTURE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71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Entitas, atribut, dan aturan bisnis. Tanpa detail teknis.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987345" y="2468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53105" y="1371600"/>
            <a:ext cx="2438705" cy="2743200"/>
          </a:xfrm>
          <a:prstGeom prst="roundRect">
            <a:avLst>
              <a:gd name="adj" fmla="val 449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27425" y="16459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27425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627425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Logis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3627425" y="2651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LEBIH RINCI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627425" y="2971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Tipe data atribut, relasi antar entitas, dan atribut kunci.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791810" y="2468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157570" y="1371600"/>
            <a:ext cx="2438705" cy="2743200"/>
          </a:xfrm>
          <a:prstGeom prst="roundRect">
            <a:avLst>
              <a:gd name="adj" fmla="val 449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31890" y="164592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3189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3189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Fisik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431890" y="2651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PALING TEKNIS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31890" y="2971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Spesifik ke DBMS tertentu: tipe data, index, metode akses.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Makin ke kanan, makin teknis dan makin detail.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MODEL DATA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Fungsi utama model data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572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874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Definisi struktur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Nentuin elemen data apa aja dan gimana mereka saling nyambung.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572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874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Standarisasi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Format dan definisi data sama di seluruh sistem.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172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474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Kolaborasi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Analis, data scientist, dan stakeholder lihat gambaran data yang sama.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37760" y="3172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937760" y="3474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Kualitas data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Integritas dan konsistensi naik, error turun.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JENIS MODEL DATA ·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Model Hierarkis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 disusun kayak pohon keluarga: ada induk, ada anak.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Cuma ada 1 akar (root)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Tiap node punya 1 induk, kecuali akar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Contoh: bagan organisasi, folder di komputer, data penjualan per toko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92240" y="1874520"/>
            <a:ext cx="0" cy="3200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0" y="2194560"/>
            <a:ext cx="21945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94960" y="2194560"/>
            <a:ext cx="0" cy="3200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89520" y="2194560"/>
            <a:ext cx="0" cy="3200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94960" y="3017520"/>
            <a:ext cx="0" cy="5029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89520" y="3017520"/>
            <a:ext cx="0" cy="5029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0" y="1371600"/>
            <a:ext cx="146304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Drive C: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514600"/>
            <a:ext cx="146304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6344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Dokumen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0" y="2514600"/>
            <a:ext cx="146304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Gambar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63440" y="3520440"/>
            <a:ext cx="146304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63440" y="3520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Laporan.docx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858000" y="3520440"/>
            <a:ext cx="146304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0" y="3520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Foto.jpg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36676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Akar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366760" y="2514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Anak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366760" y="3520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Cucu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JENIS MODEL DATA ·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Model Relasional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754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NIM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Nama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Jurusan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2401001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Andi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Informatika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2401002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Sinta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Sistem Informasi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2401003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Raka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Informatika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31089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Contoh tabel Mahasiswa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548640" y="3611880"/>
            <a:ext cx="475488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36118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Tabel-tabel dihubungkan pakai key, lalu datanya diambil pakai SQL.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669280" y="1371600"/>
            <a:ext cx="292608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5216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Tabel = Relasi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Satu entitas, misal Mahasiswa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69280" y="2148840"/>
            <a:ext cx="292608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852160" y="2240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Baris = Tupel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Satu record data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669280" y="2926080"/>
            <a:ext cx="292608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852160" y="3017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Kolom = Atribut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Properti, misal Nama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0" y="3703320"/>
            <a:ext cx="292608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852160" y="3794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NIM = Primary Key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Unik buat tiap baris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JENIS MODEL DATA ·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Primary Key vs Foreign Key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Mahasiswa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KRS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3291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NIM (PK)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Nama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2401001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Andi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2401002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Sinta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691640"/>
          <a:ext cx="3474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28016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NIM (FK)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Mata Kuliah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2401001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Basis Data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2401002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Basis Data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4069080" y="2103120"/>
            <a:ext cx="822960" cy="320040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3886200" y="1828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merujuk ke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48640" y="315468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22960" y="3337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Primary Key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Identitas unik tiap baris. Gak boleh dobel.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4663440" y="315468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937760" y="3337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Foreign Key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Kolom yang nyambung ke primary key di tabel lain. Ini yang bikin tabel saling berelasi.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JENIS MODEL DATA ·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Kenapa relasional favorit?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5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alasan model relasional paling banyak dipakai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474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Hampir semua aplikasi yang kamu pakai sehari-hari jalan di atas database relasional.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0" y="14264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0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371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Integritas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Data akurat dan konsisten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14800" y="20665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1480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2011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Struktur simpel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Gampang dipahami dan diimplementasi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114800" y="27066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26517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Fleksibel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Struktur database relatif gampang diubah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0" y="33467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11480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3291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Efisien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Ambil dan kelola data jadi cepat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14800" y="39867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1480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66344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Standar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Pakai SQL, bahasa standar database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JENIS MODEL DATA ·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Model Berorientasi Objek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29184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371600"/>
            <a:ext cx="329184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Buku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ATRIBUT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judul, penulis,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penerbit, tahun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METHOD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37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cekKetersediaan()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pinjam()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kembalikan()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1371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Data disimpan sebagai objek, persis kayak di OOP. Satu objek = data (atribut) + perilaku (method).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Objek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Benda nyata, misal mobil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20624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Kelas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Blueprint buat bikin objek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20624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Enkapsulasi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Bungkus data + method jadi satu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206240" y="3566160"/>
            <a:ext cx="146304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Pewarisan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85216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Novel mewarisi sifat Buku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Polimorfisme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85216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Method sama, hasil beda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JENIS MODEL DATA ·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Kelebihan vs kekurangan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9319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0020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+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00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Kelebihan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2402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Fleksibel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Jago handle data kompleks: gambar, audio, video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Reusable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Kode dipakai ulang lewat pewarisan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Mirip dunia nyata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Dekat sama cara manusia berpikir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39319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−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1600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Kekurangan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22402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Adopsi terbatas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Belum sepopuler relasional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Performa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Bisa berat kalau implementasinya kurang tepat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Learning curve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Lumayan curam buat pemula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STRUCTURED QUERY LANGUAGE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 kelompok perintah SQL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SQL itu bahasa buat ngatur, ngubah, dan ngambil data di database relasional.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438705" cy="2651760"/>
          </a:xfrm>
          <a:prstGeom prst="roundRect">
            <a:avLst>
              <a:gd name="adj" fmla="val 44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DDL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Data Definition Language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Ngatur struktur database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3520440"/>
            <a:ext cx="886968" cy="320040"/>
          </a:xfrm>
          <a:prstGeom prst="roundRect">
            <a:avLst>
              <a:gd name="adj" fmla="val 3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520440"/>
            <a:ext cx="886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01368" y="3520440"/>
            <a:ext cx="886968" cy="320040"/>
          </a:xfrm>
          <a:prstGeom prst="roundRect">
            <a:avLst>
              <a:gd name="adj" fmla="val 3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801368" y="3520440"/>
            <a:ext cx="886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3931920"/>
            <a:ext cx="886968" cy="320040"/>
          </a:xfrm>
          <a:prstGeom prst="roundRect">
            <a:avLst>
              <a:gd name="adj" fmla="val 3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931920"/>
            <a:ext cx="886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53105" y="1828800"/>
            <a:ext cx="2438705" cy="2651760"/>
          </a:xfrm>
          <a:prstGeom prst="roundRect">
            <a:avLst>
              <a:gd name="adj" fmla="val 44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27425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DML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3627425" y="2560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Data Manipulation Language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627425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Ngolah isi data di tabel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627425" y="3520440"/>
            <a:ext cx="886968" cy="320040"/>
          </a:xfrm>
          <a:prstGeom prst="roundRect">
            <a:avLst>
              <a:gd name="adj" fmla="val 3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27425" y="3520440"/>
            <a:ext cx="886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05833" y="3520440"/>
            <a:ext cx="886968" cy="320040"/>
          </a:xfrm>
          <a:prstGeom prst="roundRect">
            <a:avLst>
              <a:gd name="adj" fmla="val 3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05833" y="3520440"/>
            <a:ext cx="886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27425" y="3931920"/>
            <a:ext cx="886968" cy="320040"/>
          </a:xfrm>
          <a:prstGeom prst="roundRect">
            <a:avLst>
              <a:gd name="adj" fmla="val 3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627425" y="3931920"/>
            <a:ext cx="886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05833" y="3931920"/>
            <a:ext cx="886968" cy="320040"/>
          </a:xfrm>
          <a:prstGeom prst="roundRect">
            <a:avLst>
              <a:gd name="adj" fmla="val 3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05833" y="3931920"/>
            <a:ext cx="886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157570" y="1828800"/>
            <a:ext cx="2438705" cy="2651760"/>
          </a:xfrm>
          <a:prstGeom prst="roundRect">
            <a:avLst>
              <a:gd name="adj" fmla="val 44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3189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DCL</a:t>
            </a:r>
            <a:endParaRPr lang="en-US" sz="2800" dirty="0"/>
          </a:p>
        </p:txBody>
      </p:sp>
      <p:sp>
        <p:nvSpPr>
          <p:cNvPr id="30" name="Text 27"/>
          <p:cNvSpPr txBox="1"/>
          <p:nvPr/>
        </p:nvSpPr>
        <p:spPr>
          <a:xfrm>
            <a:off x="6431890" y="2560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Data Control Language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43189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Ngatur hak akses user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431890" y="3520440"/>
            <a:ext cx="886968" cy="320040"/>
          </a:xfrm>
          <a:prstGeom prst="roundRect">
            <a:avLst>
              <a:gd name="adj" fmla="val 3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31890" y="3520440"/>
            <a:ext cx="886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410298" y="3520440"/>
            <a:ext cx="886968" cy="320040"/>
          </a:xfrm>
          <a:prstGeom prst="roundRect">
            <a:avLst>
              <a:gd name="adj" fmla="val 3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410298" y="3520440"/>
            <a:ext cx="886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STRUCTURED QUERY LANGUAGE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Tiap perintah gunanya apa?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48840"/>
                <a:gridCol w="868680"/>
                <a:gridCol w="1005840"/>
                <a:gridCol w="2148840"/>
                <a:gridCol w="868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Perintah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Gunanya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Grup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Perintah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Gunanya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Grup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Bikin database/tabel baru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DDL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Tambah data baru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DML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Ubah struktur tabel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DDL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Ubah data yang udah ada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DML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DROP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Hapus database/tabel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DDL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Hapus data dari tabel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DML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Ambil data dari tabel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DML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Kasih hak akses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DCL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REVOKE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Cabut hak akses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DCL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38404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Jangan ketuker: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ALTER ubah struktur tabel, UPDATE ubah isi datanya.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STRUCTURED QUERY LANGUAGE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Kenapa SQL wajib dikuasai?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874520" cy="3017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01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Standar industri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Dipakai hampir semua RDBMS, dari MySQL sampai PostgreSQL.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606040" y="1417320"/>
            <a:ext cx="1874520" cy="3017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3464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02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2377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Fleksibel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834640" y="29260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Bisa buat analisis data kompleks dan data dalam jumlah besar.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1874520" cy="3017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03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2377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Keamanan data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9260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Admin bisa ngatur siapa boleh akses apa.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20840" y="1417320"/>
            <a:ext cx="1874520" cy="3017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04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2377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Karier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29260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Skill wajib buat data analyst, data engineer, dan data scientist.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RANGKUMAN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30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Yang wajib kamu ingat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9319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5179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371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Model data = kerangka/blueprint data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39319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5179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349240" y="1371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 level: Konseptual, Logis, Fisik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148840"/>
            <a:ext cx="39319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22951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2148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Hierarkis = pohon, 1 akar (Drive C:)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2148840"/>
            <a:ext cx="39319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46320" y="22951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349240" y="2148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Relasional = tabel, baris = tupel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2926080"/>
            <a:ext cx="39319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307238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23444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Primary key unik, foreign key ke tabel lain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663440" y="2926080"/>
            <a:ext cx="39319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46320" y="307238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4632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34924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Novel mewarisi Buku = pewarisan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48640" y="3703320"/>
            <a:ext cx="39319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1520" y="38496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234440" y="3703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DDL: CREATE, ALTER, DROP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663440" y="3703320"/>
            <a:ext cx="39319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46320" y="38496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4632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349240" y="3703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UPDATE ubah data, REVOKE cabut akses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914400"/>
            <a:ext cx="3840480" cy="384048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2834640"/>
            <a:ext cx="2377440" cy="2377440"/>
          </a:xfrm>
          <a:prstGeom prst="ellipse">
            <a:avLst/>
          </a:prstGeom>
          <a:solidFill>
            <a:schemeClr val="accent6">
              <a:alpha val="45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SAATNYA UJI PEMAHAMAN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4173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Quiz Time!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7432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15 soal pilihan ganda · 10 menit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soal-database-konsep.vercel.app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 Data Clean">
  <a:themeElements>
    <a:clrScheme name="Basis Data Clean">
      <a:dk1>
        <a:srgbClr val="18181B"/>
      </a:dk1>
      <a:lt1>
        <a:srgbClr val="FFFFFF"/>
      </a:lt1>
      <a:dk2>
        <a:srgbClr val="52525B"/>
      </a:dk2>
      <a:lt2>
        <a:srgbClr val="F4F4F5"/>
      </a:lt2>
      <a:accent1>
        <a:srgbClr val="4F46E5"/>
      </a:accent1>
      <a:accent2>
        <a:srgbClr val="E0E7FF"/>
      </a:accent2>
      <a:accent3>
        <a:srgbClr val="16A34A"/>
      </a:accent3>
      <a:accent4>
        <a:srgbClr val="D97706"/>
      </a:accent4>
      <a:accent5>
        <a:srgbClr val="DC2626"/>
      </a:accent5>
      <a:accent6>
        <a:srgbClr val="A5B4FC"/>
      </a:accent6>
      <a:hlink>
        <a:srgbClr val="4F46E5"/>
      </a:hlink>
      <a:folHlink>
        <a:srgbClr val="4338CA"/>
      </a:folHlink>
    </a:clrScheme>
    <a:fontScheme name="Basis Data Clea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Basis Data</dc:title>
  <dc:subject>PptxGenJS Presentation</dc:subject>
  <dc:creator>PptxGenJS</dc:creator>
  <cp:lastModifiedBy>PptxGenJS</cp:lastModifiedBy>
  <cp:revision>1</cp:revision>
  <dcterms:created xsi:type="dcterms:W3CDTF">2026-10-24T08:04:39Z</dcterms:created>
  <dcterms:modified xsi:type="dcterms:W3CDTF">2026-10-24T08:04:39Z</dcterms:modified>
</cp:coreProperties>
</file>